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10CA7-9069-4173-A9BD-35D6A4338257}" v="16" dt="2026-07-03T21:10:09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giri2101@outlook.com" userId="3beb3e494b7645bc" providerId="LiveId" clId="{44A2D090-7B7A-4904-9F95-815975A37E21}"/>
    <pc:docChg chg="undo custSel modSld">
      <pc:chgData name="ashutoshgiri2101@outlook.com" userId="3beb3e494b7645bc" providerId="LiveId" clId="{44A2D090-7B7A-4904-9F95-815975A37E21}" dt="2026-07-03T21:12:12.624" v="430" actId="20577"/>
      <pc:docMkLst>
        <pc:docMk/>
      </pc:docMkLst>
      <pc:sldChg chg="modSp mod">
        <pc:chgData name="ashutoshgiri2101@outlook.com" userId="3beb3e494b7645bc" providerId="LiveId" clId="{44A2D090-7B7A-4904-9F95-815975A37E21}" dt="2026-07-03T21:06:54.712" v="359" actId="20577"/>
        <pc:sldMkLst>
          <pc:docMk/>
          <pc:sldMk cId="0" sldId="259"/>
        </pc:sldMkLst>
        <pc:spChg chg="mod">
          <ac:chgData name="ashutoshgiri2101@outlook.com" userId="3beb3e494b7645bc" providerId="LiveId" clId="{44A2D090-7B7A-4904-9F95-815975A37E21}" dt="2026-07-03T21:06:54.712" v="359" actId="20577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">
        <pc:chgData name="ashutoshgiri2101@outlook.com" userId="3beb3e494b7645bc" providerId="LiveId" clId="{44A2D090-7B7A-4904-9F95-815975A37E21}" dt="2026-07-03T21:09:44.510" v="373" actId="207"/>
        <pc:sldMkLst>
          <pc:docMk/>
          <pc:sldMk cId="0" sldId="261"/>
        </pc:sldMkLst>
        <pc:spChg chg="add mod">
          <ac:chgData name="ashutoshgiri2101@outlook.com" userId="3beb3e494b7645bc" providerId="LiveId" clId="{44A2D090-7B7A-4904-9F95-815975A37E21}" dt="2026-07-03T21:09:44.510" v="373" actId="207"/>
          <ac:spMkLst>
            <pc:docMk/>
            <pc:sldMk cId="0" sldId="261"/>
            <ac:spMk id="24" creationId="{87F90307-8C57-FC8E-80B2-E1BBCD80065B}"/>
          </ac:spMkLst>
        </pc:spChg>
        <pc:picChg chg="add del mod">
          <ac:chgData name="ashutoshgiri2101@outlook.com" userId="3beb3e494b7645bc" providerId="LiveId" clId="{44A2D090-7B7A-4904-9F95-815975A37E21}" dt="2026-07-03T20:52:31.419" v="82" actId="478"/>
          <ac:picMkLst>
            <pc:docMk/>
            <pc:sldMk cId="0" sldId="261"/>
            <ac:picMk id="24" creationId="{00000000-0000-0000-0000-000000000000}"/>
          </ac:picMkLst>
        </pc:picChg>
        <pc:picChg chg="add mod">
          <ac:chgData name="ashutoshgiri2101@outlook.com" userId="3beb3e494b7645bc" providerId="LiveId" clId="{44A2D090-7B7A-4904-9F95-815975A37E21}" dt="2026-07-03T20:52:40.030" v="102" actId="1036"/>
          <ac:picMkLst>
            <pc:docMk/>
            <pc:sldMk cId="0" sldId="261"/>
            <ac:picMk id="27" creationId="{95D7EFC6-53B1-A5BA-A502-8312B1BD570E}"/>
          </ac:picMkLst>
        </pc:picChg>
      </pc:sldChg>
      <pc:sldChg chg="addSp delSp modSp mod">
        <pc:chgData name="ashutoshgiri2101@outlook.com" userId="3beb3e494b7645bc" providerId="LiveId" clId="{44A2D090-7B7A-4904-9F95-815975A37E21}" dt="2026-07-03T21:12:12.624" v="430" actId="20577"/>
        <pc:sldMkLst>
          <pc:docMk/>
          <pc:sldMk cId="0" sldId="262"/>
        </pc:sldMkLst>
        <pc:spChg chg="add mod">
          <ac:chgData name="ashutoshgiri2101@outlook.com" userId="3beb3e494b7645bc" providerId="LiveId" clId="{44A2D090-7B7A-4904-9F95-815975A37E21}" dt="2026-07-03T21:10:29.680" v="380" actId="1076"/>
          <ac:spMkLst>
            <pc:docMk/>
            <pc:sldMk cId="0" sldId="262"/>
            <ac:spMk id="5" creationId="{14E3B3B6-A10F-4656-6312-8BF3375CE654}"/>
          </ac:spMkLst>
        </pc:spChg>
        <pc:spChg chg="mod">
          <ac:chgData name="ashutoshgiri2101@outlook.com" userId="3beb3e494b7645bc" providerId="LiveId" clId="{44A2D090-7B7A-4904-9F95-815975A37E21}" dt="2026-07-03T21:12:12.624" v="430" actId="20577"/>
          <ac:spMkLst>
            <pc:docMk/>
            <pc:sldMk cId="0" sldId="262"/>
            <ac:spMk id="8" creationId="{00000000-0000-0000-0000-000000000000}"/>
          </ac:spMkLst>
        </pc:spChg>
        <pc:picChg chg="del">
          <ac:chgData name="ashutoshgiri2101@outlook.com" userId="3beb3e494b7645bc" providerId="LiveId" clId="{44A2D090-7B7A-4904-9F95-815975A37E21}" dt="2026-07-03T20:54:54.179" v="118" actId="478"/>
          <ac:picMkLst>
            <pc:docMk/>
            <pc:sldMk cId="0" sldId="262"/>
            <ac:picMk id="5" creationId="{00000000-0000-0000-0000-000000000000}"/>
          </ac:picMkLst>
        </pc:picChg>
        <pc:picChg chg="add mod">
          <ac:chgData name="ashutoshgiri2101@outlook.com" userId="3beb3e494b7645bc" providerId="LiveId" clId="{44A2D090-7B7A-4904-9F95-815975A37E21}" dt="2026-07-03T20:54:59.140" v="128" actId="1036"/>
          <ac:picMkLst>
            <pc:docMk/>
            <pc:sldMk cId="0" sldId="262"/>
            <ac:picMk id="20" creationId="{DB9C8668-DBFE-FAC5-EC55-C2AE974754B3}"/>
          </ac:picMkLst>
        </pc:picChg>
      </pc:sldChg>
      <pc:sldChg chg="addSp delSp modSp mod">
        <pc:chgData name="ashutoshgiri2101@outlook.com" userId="3beb3e494b7645bc" providerId="LiveId" clId="{44A2D090-7B7A-4904-9F95-815975A37E21}" dt="2026-07-03T20:47:37.825" v="44" actId="14100"/>
        <pc:sldMkLst>
          <pc:docMk/>
          <pc:sldMk cId="0" sldId="263"/>
        </pc:sldMkLst>
        <pc:graphicFrameChg chg="add mod">
          <ac:chgData name="ashutoshgiri2101@outlook.com" userId="3beb3e494b7645bc" providerId="LiveId" clId="{44A2D090-7B7A-4904-9F95-815975A37E21}" dt="2026-07-03T20:44:55.397" v="1"/>
          <ac:graphicFrameMkLst>
            <pc:docMk/>
            <pc:sldMk cId="0" sldId="263"/>
            <ac:graphicFrameMk id="18" creationId="{C44B5608-1C66-6972-00CE-583F46A92DBC}"/>
          </ac:graphicFrameMkLst>
        </pc:graphicFrameChg>
        <pc:picChg chg="del">
          <ac:chgData name="ashutoshgiri2101@outlook.com" userId="3beb3e494b7645bc" providerId="LiveId" clId="{44A2D090-7B7A-4904-9F95-815975A37E21}" dt="2026-07-03T20:45:46.874" v="11" actId="478"/>
          <ac:picMkLst>
            <pc:docMk/>
            <pc:sldMk cId="0" sldId="263"/>
            <ac:picMk id="6" creationId="{00000000-0000-0000-0000-000000000000}"/>
          </ac:picMkLst>
        </pc:picChg>
        <pc:picChg chg="add del">
          <ac:chgData name="ashutoshgiri2101@outlook.com" userId="3beb3e494b7645bc" providerId="LiveId" clId="{44A2D090-7B7A-4904-9F95-815975A37E21}" dt="2026-07-03T20:46:27.776" v="25" actId="478"/>
          <ac:picMkLst>
            <pc:docMk/>
            <pc:sldMk cId="0" sldId="263"/>
            <ac:picMk id="9" creationId="{00000000-0000-0000-0000-000000000000}"/>
          </ac:picMkLst>
        </pc:picChg>
        <pc:picChg chg="del">
          <ac:chgData name="ashutoshgiri2101@outlook.com" userId="3beb3e494b7645bc" providerId="LiveId" clId="{44A2D090-7B7A-4904-9F95-815975A37E21}" dt="2026-07-03T20:46:56.467" v="34" actId="478"/>
          <ac:picMkLst>
            <pc:docMk/>
            <pc:sldMk cId="0" sldId="263"/>
            <ac:picMk id="12" creationId="{00000000-0000-0000-0000-000000000000}"/>
          </ac:picMkLst>
        </pc:picChg>
        <pc:picChg chg="del">
          <ac:chgData name="ashutoshgiri2101@outlook.com" userId="3beb3e494b7645bc" providerId="LiveId" clId="{44A2D090-7B7A-4904-9F95-815975A37E21}" dt="2026-07-03T20:47:35.273" v="43" actId="478"/>
          <ac:picMkLst>
            <pc:docMk/>
            <pc:sldMk cId="0" sldId="263"/>
            <ac:picMk id="15" creationId="{00000000-0000-0000-0000-000000000000}"/>
          </ac:picMkLst>
        </pc:picChg>
        <pc:picChg chg="add del mod">
          <ac:chgData name="ashutoshgiri2101@outlook.com" userId="3beb3e494b7645bc" providerId="LiveId" clId="{44A2D090-7B7A-4904-9F95-815975A37E21}" dt="2026-07-03T20:45:13.046" v="4" actId="931"/>
          <ac:picMkLst>
            <pc:docMk/>
            <pc:sldMk cId="0" sldId="263"/>
            <ac:picMk id="21" creationId="{5D7FC70C-C0EF-C890-1F46-49B39FD6ADF6}"/>
          </ac:picMkLst>
        </pc:picChg>
        <pc:picChg chg="add mod">
          <ac:chgData name="ashutoshgiri2101@outlook.com" userId="3beb3e494b7645bc" providerId="LiveId" clId="{44A2D090-7B7A-4904-9F95-815975A37E21}" dt="2026-07-03T20:45:53.026" v="13" actId="14100"/>
          <ac:picMkLst>
            <pc:docMk/>
            <pc:sldMk cId="0" sldId="263"/>
            <ac:picMk id="23" creationId="{5DE4C0AB-AD1D-87F2-44CC-5BCEF629FAF6}"/>
          </ac:picMkLst>
        </pc:picChg>
        <pc:picChg chg="add del mod">
          <ac:chgData name="ashutoshgiri2101@outlook.com" userId="3beb3e494b7645bc" providerId="LiveId" clId="{44A2D090-7B7A-4904-9F95-815975A37E21}" dt="2026-07-03T20:46:08.509" v="17" actId="931"/>
          <ac:picMkLst>
            <pc:docMk/>
            <pc:sldMk cId="0" sldId="263"/>
            <ac:picMk id="25" creationId="{A716A8E0-559A-0D80-81CD-E4CBD183D5AB}"/>
          </ac:picMkLst>
        </pc:picChg>
        <pc:picChg chg="add mod">
          <ac:chgData name="ashutoshgiri2101@outlook.com" userId="3beb3e494b7645bc" providerId="LiveId" clId="{44A2D090-7B7A-4904-9F95-815975A37E21}" dt="2026-07-03T20:46:30.706" v="26" actId="14100"/>
          <ac:picMkLst>
            <pc:docMk/>
            <pc:sldMk cId="0" sldId="263"/>
            <ac:picMk id="27" creationId="{83BBFD61-CFD3-1CBF-7F9E-F6B43E8B25D0}"/>
          </ac:picMkLst>
        </pc:picChg>
        <pc:picChg chg="add mod">
          <ac:chgData name="ashutoshgiri2101@outlook.com" userId="3beb3e494b7645bc" providerId="LiveId" clId="{44A2D090-7B7A-4904-9F95-815975A37E21}" dt="2026-07-03T20:46:58.993" v="35" actId="14100"/>
          <ac:picMkLst>
            <pc:docMk/>
            <pc:sldMk cId="0" sldId="263"/>
            <ac:picMk id="29" creationId="{B0243773-2942-0AD0-4AA7-B32F30BE2C42}"/>
          </ac:picMkLst>
        </pc:picChg>
        <pc:picChg chg="add mod">
          <ac:chgData name="ashutoshgiri2101@outlook.com" userId="3beb3e494b7645bc" providerId="LiveId" clId="{44A2D090-7B7A-4904-9F95-815975A37E21}" dt="2026-07-03T20:47:37.825" v="44" actId="14100"/>
          <ac:picMkLst>
            <pc:docMk/>
            <pc:sldMk cId="0" sldId="263"/>
            <ac:picMk id="31" creationId="{51A0D053-933E-4842-2F98-4A168E605E7C}"/>
          </ac:picMkLst>
        </pc:picChg>
      </pc:sldChg>
      <pc:sldChg chg="modSp mod">
        <pc:chgData name="ashutoshgiri2101@outlook.com" userId="3beb3e494b7645bc" providerId="LiveId" clId="{44A2D090-7B7A-4904-9F95-815975A37E21}" dt="2026-07-03T21:11:12.790" v="403" actId="27636"/>
        <pc:sldMkLst>
          <pc:docMk/>
          <pc:sldMk cId="0" sldId="265"/>
        </pc:sldMkLst>
        <pc:spChg chg="mod">
          <ac:chgData name="ashutoshgiri2101@outlook.com" userId="3beb3e494b7645bc" providerId="LiveId" clId="{44A2D090-7B7A-4904-9F95-815975A37E21}" dt="2026-07-03T21:11:12.790" v="403" actId="27636"/>
          <ac:spMkLst>
            <pc:docMk/>
            <pc:sldMk cId="0" sldId="265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23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10" Type="http://schemas.openxmlformats.org/officeDocument/2006/relationships/image" Target="../media/image4.pn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ashutoshgiri1918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ashuuuu7" TargetMode="External"/><Relationship Id="rId4" Type="http://schemas.openxmlformats.org/officeDocument/2006/relationships/hyperlink" Target="http://www.linkedin.com/in/ashutosh-giri-datasci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2506"/>
            <a:ext cx="1298600" cy="255240"/>
          </a:xfrm>
          <a:prstGeom prst="roundRect">
            <a:avLst>
              <a:gd name="adj" fmla="val 6457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4007495" y="443657"/>
            <a:ext cx="1591047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BLUESTOCK FINTECH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292328" y="402506"/>
            <a:ext cx="1305744" cy="255240"/>
          </a:xfrm>
          <a:prstGeom prst="roundRect">
            <a:avLst>
              <a:gd name="adj" fmla="val 6457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74704" y="443657"/>
            <a:ext cx="1598191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CAPSTONE PROJECT 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710952"/>
            <a:ext cx="421124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Mutual Fund Analytics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925119" y="1339602"/>
            <a:ext cx="472276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Financial Analytics &amp; Business Intelligence Solution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925119" y="2064246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40022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Presenter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25119" y="2747739"/>
            <a:ext cx="2193875" cy="187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Ashutosh Giri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B.Tech in Artificial Intelligence &amp; Data Science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University School of Automation and Robotics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Guru Gobind Singh Indraprastha University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58769" y="240022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Submitted To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58769" y="2747739"/>
            <a:ext cx="2193875" cy="110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Bluestock Fintech</a:t>
            </a:r>
            <a:endParaRPr lang="en-US" sz="1050" dirty="0"/>
          </a:p>
          <a:p>
            <a:pPr marL="0" indent="0" algn="l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Capstone Project Submission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Academic Evaluation &amp; Placement Portfolio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8AC250-4703-43B7-7CFA-F9D6706E2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20" y="4724364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81074" cy="110430"/>
          </a:xfrm>
          <a:prstGeom prst="roundRect">
            <a:avLst>
              <a:gd name="adj" fmla="val 7703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53294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OVERVIEW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9012"/>
            <a:ext cx="8608963" cy="10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comprehensive Mutual Fund Analytics solution engineered with Python, SQL, SQLite, and Power BI — covering the full lifecycle from raw data ingestion to actionable business intelligence.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797" y="935162"/>
            <a:ext cx="6298332" cy="4340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7997" y="965374"/>
            <a:ext cx="6247933" cy="1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pipeline ensures data integrity at every stage, transforming multi-source mutual fund datasets into structured analytics-ready databases, and ultimately delivering interactive dashboards that surface alpha-generating insights for stakeholders.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D18651-37C0-FE84-F051-4CA5E83E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20" y="4716416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5677"/>
            <a:ext cx="638845" cy="145256"/>
          </a:xfrm>
          <a:prstGeom prst="roundRect">
            <a:avLst>
              <a:gd name="adj" fmla="val 7320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49250" y="442243"/>
            <a:ext cx="989781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83034"/>
            <a:ext cx="3477667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Technologies &amp; Architecture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05260"/>
            <a:ext cx="221456" cy="22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295921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1489695"/>
            <a:ext cx="354940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Pandas, NumPy, Matplotlib</a:t>
            </a:r>
            <a:endParaRPr lang="en-US" sz="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15616"/>
            <a:ext cx="221456" cy="221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6119" y="200627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SQLite &amp; SQL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2200052"/>
            <a:ext cx="354940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database engine</a:t>
            </a:r>
            <a:endParaRPr lang="en-US" sz="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25973"/>
            <a:ext cx="221456" cy="221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716634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96119" y="2910408"/>
            <a:ext cx="354940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BI dashboards</a:t>
            </a:r>
            <a:endParaRPr lang="en-US" sz="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36329"/>
            <a:ext cx="221456" cy="221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426991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GitHub &amp; Jupyter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96119" y="3620765"/>
            <a:ext cx="354940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 control &amp; notebooks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4266381" y="998339"/>
            <a:ext cx="15647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Architecture Flow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266381" y="1199034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19" name="Text 13"/>
          <p:cNvSpPr/>
          <p:nvPr/>
        </p:nvSpPr>
        <p:spPr>
          <a:xfrm>
            <a:off x="4410298" y="1287587"/>
            <a:ext cx="424227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Raw Data Ingestion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4399285" y="1786012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21" name="Text 15"/>
          <p:cNvSpPr/>
          <p:nvPr/>
        </p:nvSpPr>
        <p:spPr>
          <a:xfrm>
            <a:off x="4543202" y="1874565"/>
            <a:ext cx="41093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ETL Processing</a:t>
            </a:r>
            <a:endParaRPr lang="en-US" sz="650" dirty="0"/>
          </a:p>
        </p:txBody>
      </p:sp>
      <p:sp>
        <p:nvSpPr>
          <p:cNvPr id="22" name="Shape 16"/>
          <p:cNvSpPr/>
          <p:nvPr/>
        </p:nvSpPr>
        <p:spPr>
          <a:xfrm>
            <a:off x="4532188" y="2372990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23" name="Text 17"/>
          <p:cNvSpPr/>
          <p:nvPr/>
        </p:nvSpPr>
        <p:spPr>
          <a:xfrm>
            <a:off x="4676105" y="2461543"/>
            <a:ext cx="397646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SQLite Storage Layer</a:t>
            </a:r>
            <a:endParaRPr lang="en-US" sz="650" dirty="0"/>
          </a:p>
        </p:txBody>
      </p:sp>
      <p:sp>
        <p:nvSpPr>
          <p:cNvPr id="24" name="Shape 18"/>
          <p:cNvSpPr/>
          <p:nvPr/>
        </p:nvSpPr>
        <p:spPr>
          <a:xfrm>
            <a:off x="4665092" y="2959968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25" name="Text 19"/>
          <p:cNvSpPr/>
          <p:nvPr/>
        </p:nvSpPr>
        <p:spPr>
          <a:xfrm>
            <a:off x="4809009" y="3048521"/>
            <a:ext cx="384356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EDA &amp; Performance Analytics</a:t>
            </a:r>
            <a:endParaRPr lang="en-US" sz="650" dirty="0"/>
          </a:p>
        </p:txBody>
      </p:sp>
      <p:sp>
        <p:nvSpPr>
          <p:cNvPr id="26" name="Shape 20"/>
          <p:cNvSpPr/>
          <p:nvPr/>
        </p:nvSpPr>
        <p:spPr>
          <a:xfrm>
            <a:off x="4532188" y="3546946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27" name="Text 21"/>
          <p:cNvSpPr/>
          <p:nvPr/>
        </p:nvSpPr>
        <p:spPr>
          <a:xfrm>
            <a:off x="4676105" y="3635499"/>
            <a:ext cx="3976464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 Engine</a:t>
            </a:r>
            <a:endParaRPr lang="en-US" sz="650" dirty="0"/>
          </a:p>
        </p:txBody>
      </p:sp>
      <p:sp>
        <p:nvSpPr>
          <p:cNvPr id="28" name="Shape 22"/>
          <p:cNvSpPr/>
          <p:nvPr/>
        </p:nvSpPr>
        <p:spPr>
          <a:xfrm>
            <a:off x="4399285" y="4133924"/>
            <a:ext cx="88553" cy="531614"/>
          </a:xfrm>
          <a:prstGeom prst="roundRect">
            <a:avLst>
              <a:gd name="adj" fmla="val 15009"/>
            </a:avLst>
          </a:prstGeom>
          <a:solidFill>
            <a:srgbClr val="3A3B3C"/>
          </a:solidFill>
          <a:ln/>
        </p:spPr>
      </p:sp>
      <p:sp>
        <p:nvSpPr>
          <p:cNvPr id="29" name="Text 23"/>
          <p:cNvSpPr/>
          <p:nvPr/>
        </p:nvSpPr>
        <p:spPr>
          <a:xfrm>
            <a:off x="4543202" y="4222477"/>
            <a:ext cx="41093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 &amp; Insights</a:t>
            </a:r>
            <a:endParaRPr lang="en-US" sz="6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12B68B7-68C5-725E-6069-434D30747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420" y="4703235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157"/>
            <a:ext cx="787375" cy="202629"/>
          </a:xfrm>
          <a:prstGeom prst="roundRect">
            <a:avLst>
              <a:gd name="adj" fmla="val 6821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33685"/>
            <a:ext cx="1106463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9217"/>
            <a:ext cx="371058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&amp; ETL Pipeline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4724"/>
            <a:ext cx="3092053" cy="1752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73922" y="1354857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Ten Core Datasets + Live NAV integration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73922" y="1701254"/>
            <a:ext cx="57522" cy="57522"/>
          </a:xfrm>
          <a:prstGeom prst="ellipse">
            <a:avLst/>
          </a:prstGeom>
          <a:solidFill>
            <a:srgbClr val="D2AC47"/>
          </a:solidFill>
          <a:ln/>
        </p:spPr>
      </p:sp>
      <p:sp>
        <p:nvSpPr>
          <p:cNvPr id="8" name="Text 5"/>
          <p:cNvSpPr/>
          <p:nvPr/>
        </p:nvSpPr>
        <p:spPr>
          <a:xfrm>
            <a:off x="4024982" y="1640012"/>
            <a:ext cx="155704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Historical NAV &amp; AUM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4982" y="1913483"/>
            <a:ext cx="2179737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 asset values and assets under management across fund categories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21698" y="1701254"/>
            <a:ext cx="57522" cy="57522"/>
          </a:xfrm>
          <a:prstGeom prst="ellipse">
            <a:avLst/>
          </a:prstGeom>
          <a:solidFill>
            <a:srgbClr val="D2AC47"/>
          </a:solidFill>
          <a:ln/>
        </p:spPr>
      </p:sp>
      <p:sp>
        <p:nvSpPr>
          <p:cNvPr id="11" name="Text 8"/>
          <p:cNvSpPr/>
          <p:nvPr/>
        </p:nvSpPr>
        <p:spPr>
          <a:xfrm>
            <a:off x="6472758" y="164001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SIP &amp; Portfolio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72758" y="1913483"/>
            <a:ext cx="217981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Systematic investment plan flows and holdings breakdown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73922" y="2495848"/>
            <a:ext cx="57522" cy="57522"/>
          </a:xfrm>
          <a:prstGeom prst="ellipse">
            <a:avLst/>
          </a:prstGeom>
          <a:solidFill>
            <a:srgbClr val="D2AC47"/>
          </a:solidFill>
          <a:ln/>
        </p:spPr>
      </p:sp>
      <p:sp>
        <p:nvSpPr>
          <p:cNvPr id="14" name="Text 11"/>
          <p:cNvSpPr/>
          <p:nvPr/>
        </p:nvSpPr>
        <p:spPr>
          <a:xfrm>
            <a:off x="4024982" y="2434605"/>
            <a:ext cx="189272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Benchmark &amp; Transactions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24982" y="2708077"/>
            <a:ext cx="462758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Index comparisons and investor-level transaction records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6119" y="3236044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96119" y="3384277"/>
            <a:ext cx="2654871" cy="633264"/>
          </a:xfrm>
          <a:prstGeom prst="roundRect">
            <a:avLst>
              <a:gd name="adj" fmla="val 2728"/>
            </a:avLst>
          </a:prstGeom>
          <a:solidFill>
            <a:srgbClr val="3A3B3C"/>
          </a:solidFill>
          <a:ln/>
        </p:spPr>
      </p:sp>
      <p:sp>
        <p:nvSpPr>
          <p:cNvPr id="18" name="Text 15"/>
          <p:cNvSpPr/>
          <p:nvPr/>
        </p:nvSpPr>
        <p:spPr>
          <a:xfrm>
            <a:off x="611237" y="349939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1237" y="3735437"/>
            <a:ext cx="24246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 conversion, formatting, validation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44528" y="3384277"/>
            <a:ext cx="2654871" cy="633264"/>
          </a:xfrm>
          <a:prstGeom prst="roundRect">
            <a:avLst>
              <a:gd name="adj" fmla="val 2728"/>
            </a:avLst>
          </a:prstGeom>
          <a:solidFill>
            <a:srgbClr val="3A3B3C"/>
          </a:solidFill>
          <a:ln/>
        </p:spPr>
      </p:sp>
      <p:sp>
        <p:nvSpPr>
          <p:cNvPr id="21" name="Text 18"/>
          <p:cNvSpPr/>
          <p:nvPr/>
        </p:nvSpPr>
        <p:spPr>
          <a:xfrm>
            <a:off x="3359646" y="349939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59646" y="3735437"/>
            <a:ext cx="24246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Imputation &amp; null handling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92937" y="3384277"/>
            <a:ext cx="2654871" cy="633264"/>
          </a:xfrm>
          <a:prstGeom prst="roundRect">
            <a:avLst>
              <a:gd name="adj" fmla="val 2728"/>
            </a:avLst>
          </a:prstGeom>
          <a:solidFill>
            <a:srgbClr val="3A3B3C"/>
          </a:solidFill>
          <a:ln/>
        </p:spPr>
      </p:sp>
      <p:sp>
        <p:nvSpPr>
          <p:cNvPr id="24" name="Text 21"/>
          <p:cNvSpPr/>
          <p:nvPr/>
        </p:nvSpPr>
        <p:spPr>
          <a:xfrm>
            <a:off x="6108055" y="349939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Duplicate Removal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08055" y="3735437"/>
            <a:ext cx="24246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De-duplication across records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6119" y="4111079"/>
            <a:ext cx="4029075" cy="633264"/>
          </a:xfrm>
          <a:prstGeom prst="roundRect">
            <a:avLst>
              <a:gd name="adj" fmla="val 2728"/>
            </a:avLst>
          </a:prstGeom>
          <a:solidFill>
            <a:srgbClr val="3A3B3C"/>
          </a:solidFill>
          <a:ln/>
        </p:spPr>
      </p:sp>
      <p:sp>
        <p:nvSpPr>
          <p:cNvPr id="27" name="Text 24"/>
          <p:cNvSpPr/>
          <p:nvPr/>
        </p:nvSpPr>
        <p:spPr>
          <a:xfrm>
            <a:off x="611237" y="422619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Standardization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1237" y="4462239"/>
            <a:ext cx="379883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 schemas &amp; naming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18732" y="4111079"/>
            <a:ext cx="4029075" cy="633264"/>
          </a:xfrm>
          <a:prstGeom prst="roundRect">
            <a:avLst>
              <a:gd name="adj" fmla="val 2728"/>
            </a:avLst>
          </a:prstGeom>
          <a:solidFill>
            <a:srgbClr val="3A3B3C"/>
          </a:solidFill>
          <a:ln/>
        </p:spPr>
      </p:sp>
      <p:sp>
        <p:nvSpPr>
          <p:cNvPr id="30" name="Text 27"/>
          <p:cNvSpPr/>
          <p:nvPr/>
        </p:nvSpPr>
        <p:spPr>
          <a:xfrm>
            <a:off x="4733851" y="422619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SQLite Loading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33851" y="4462239"/>
            <a:ext cx="379883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Normalized relational tables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88D67FF-D6AC-D9B2-208F-A855E61D2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20" y="4800451"/>
            <a:ext cx="1615580" cy="333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282"/>
            <a:ext cx="476250" cy="140791"/>
          </a:xfrm>
          <a:prstGeom prst="roundRect">
            <a:avLst>
              <a:gd name="adj" fmla="val 7363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47911" y="428179"/>
            <a:ext cx="82986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64059"/>
            <a:ext cx="4916165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Analytics &amp; Exploratory Data Analysis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6119" y="912912"/>
            <a:ext cx="815176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Six core business questions answered through advanced SQL queries against the normalized SQLite layer, surfacing patterns across fund performance, investor behaviour, and market benchmarks.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9241"/>
            <a:ext cx="4388569" cy="518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3618" y="1487388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03759" y="1405086"/>
            <a:ext cx="116792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Performing Funds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03759" y="1592610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Ranked by returns &amp; consistency</a:t>
            </a:r>
            <a:endParaRPr lang="en-US" sz="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80146"/>
            <a:ext cx="4388569" cy="518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3618" y="2058293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03759" y="1975991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Category Analysis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903759" y="2163514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Equity, debt, hybrid comparisons</a:t>
            </a:r>
            <a:endParaRPr lang="en-US" sz="6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51050"/>
            <a:ext cx="4388569" cy="5182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3618" y="2629198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03759" y="2546896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SIP Trend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903759" y="2734419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Inflow patterns over time</a:t>
            </a:r>
            <a:endParaRPr lang="en-US" sz="6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21955"/>
            <a:ext cx="4388569" cy="5182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618" y="3200102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903759" y="3117800"/>
            <a:ext cx="12750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Benchmark Comparison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903759" y="3305324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Alpha vs. index performance</a:t>
            </a:r>
            <a:endParaRPr lang="en-US" sz="6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92860"/>
            <a:ext cx="4388569" cy="5182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3618" y="3771007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903759" y="3688705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Portfolio Allocation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903759" y="3876229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Asset distribution insights</a:t>
            </a:r>
            <a:endParaRPr lang="en-US" sz="6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63764"/>
            <a:ext cx="4388569" cy="5182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3618" y="4341912"/>
            <a:ext cx="12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903759" y="4259610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Investor Behaviour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903759" y="4447133"/>
            <a:ext cx="388508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Redemption &amp; holding patterns</a:t>
            </a:r>
            <a:endParaRPr lang="en-US" sz="6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191" y="1989162"/>
            <a:ext cx="3552379" cy="20129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ACA5C6-E434-4C82-FA8A-2A5FDAEC0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420" y="4682058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155"/>
            <a:ext cx="923032" cy="233660"/>
          </a:xfrm>
          <a:prstGeom prst="roundRect">
            <a:avLst>
              <a:gd name="adj" fmla="val 6598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69627"/>
            <a:ext cx="122619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11324"/>
            <a:ext cx="396894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Performance Analytics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287363"/>
            <a:ext cx="8151763" cy="489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Seven quantitative metrics computed for every fund scheme, enabling rigorous risk-adjusted evaluation beyond simple return figures.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38945"/>
            <a:ext cx="2112987" cy="769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557" y="21673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Annual Return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4557" y="2484462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Year-over-year yield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5489" y="2038945"/>
            <a:ext cx="2112987" cy="769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53928" y="21673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Sharpe Ratio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853928" y="2484462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Risk-adjusted return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25217"/>
            <a:ext cx="2112987" cy="769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557" y="305365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Sortino Ratio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24557" y="3370734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Downside-adjusted return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5489" y="2925217"/>
            <a:ext cx="2112987" cy="7698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53928" y="305365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Alpha &amp; Beta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853928" y="3370734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sensitivity metrics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811488"/>
            <a:ext cx="2112987" cy="7698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557" y="393992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Max Drawdown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24557" y="4257005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Worst-case decline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5489" y="3811488"/>
            <a:ext cx="2112987" cy="7698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853928" y="393992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VaR &amp; CVaR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2853928" y="4257005"/>
            <a:ext cx="18561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Tail-risk estimation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6E775EA-1658-59F1-49D4-D2F640A43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20" y="4692193"/>
            <a:ext cx="1615580" cy="41913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5D7EFC6-53B1-A5BA-A502-8312B1BD5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671" y="2368079"/>
            <a:ext cx="3491210" cy="18889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7F90307-8C57-FC8E-80B2-E1BBCD80065B}"/>
              </a:ext>
            </a:extLst>
          </p:cNvPr>
          <p:cNvSpPr txBox="1"/>
          <p:nvPr/>
        </p:nvSpPr>
        <p:spPr>
          <a:xfrm>
            <a:off x="5156671" y="4268271"/>
            <a:ext cx="3491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Normalized Performance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510"/>
            <a:ext cx="1357536" cy="249882"/>
          </a:xfrm>
          <a:prstGeom prst="roundRect">
            <a:avLst>
              <a:gd name="adj" fmla="val 6489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77155" y="451991"/>
            <a:ext cx="1652662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2887"/>
            <a:ext cx="6199584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Advanced Analytics &amp; Risk Analysis</a:t>
            </a:r>
            <a:endParaRPr lang="en-US" sz="2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504" y="1473250"/>
            <a:ext cx="2103165" cy="14925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47815" y="162736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Rolling Sharpe Ratio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47815" y="1967210"/>
            <a:ext cx="171874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90 days rolling windows for time-varying risk assessment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9405" y="1473250"/>
            <a:ext cx="2103165" cy="14925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79716" y="1627361"/>
            <a:ext cx="171874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Investor Cohort Analysis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779716" y="2178323"/>
            <a:ext cx="171874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segmentation by acquisition vintage and tenure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504" y="3094509"/>
            <a:ext cx="2103165" cy="14925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47815" y="324862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SIP Continuity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547815" y="3588469"/>
            <a:ext cx="171874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and churn modeling across SIP investor segments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9405" y="3094509"/>
            <a:ext cx="2103165" cy="14925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79716" y="3248620"/>
            <a:ext cx="171874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Diversification &amp; Recommendations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779716" y="3799582"/>
            <a:ext cx="171874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Portfolio optimization scoring and a fund recommendation engine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33DEE9-391C-A58A-5115-CE5322C97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420" y="4712395"/>
            <a:ext cx="1615580" cy="4191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9C8668-DBFE-FAC5-EC55-C2AE97475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8" y="2042145"/>
            <a:ext cx="3486969" cy="1975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E3B3B6-A10F-4656-6312-8BF3375CE654}"/>
              </a:ext>
            </a:extLst>
          </p:cNvPr>
          <p:cNvSpPr txBox="1"/>
          <p:nvPr/>
        </p:nvSpPr>
        <p:spPr>
          <a:xfrm>
            <a:off x="1063564" y="4067918"/>
            <a:ext cx="2246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Rolling 90-Day Sharpe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6142"/>
            <a:ext cx="1549078" cy="266402"/>
          </a:xfrm>
          <a:prstGeom prst="roundRect">
            <a:avLst>
              <a:gd name="adj" fmla="val 6386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08633"/>
            <a:ext cx="18361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89248"/>
            <a:ext cx="59324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Interactive Power BI Dashboard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44836"/>
            <a:ext cx="8151763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 interconnected dashboards with interactive slicers, dynamic filtering, and real-time KPI cards — delivering self-serve business intelligence to stakeholders.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5903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Industry Overview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896841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Market-wide AUM, category share, and trend summaries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578298" y="35903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Fund Performance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578298" y="389684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Scheme-level returns, Sharpe ratio, and benchmark alpha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660553" y="35903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Investor Analytics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60553" y="389684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Cohort retention, SIP continuity, and behavior flows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742807" y="3590330"/>
            <a:ext cx="17891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SIP &amp; Market Trends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742807" y="389684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SIP inflow patterns, seasonality, and market momentum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FF00C4C-17A0-CC99-53BF-4D2B16EE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420" y="4724364"/>
            <a:ext cx="1615580" cy="4191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E4C0AB-AD1D-87F2-44CC-5BCEF629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268662"/>
            <a:ext cx="1904998" cy="11799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BBFD61-CFD3-1CBF-7F9E-F6B43E8B2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297" y="2271192"/>
            <a:ext cx="1905075" cy="11773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0243773-2942-0AD0-4AA7-B32F30BE2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477" y="2268662"/>
            <a:ext cx="1905150" cy="11773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A0D053-933E-4842-2F98-4A168E605E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2807" y="2271193"/>
            <a:ext cx="1909168" cy="1172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8448"/>
            <a:ext cx="481831" cy="168325"/>
          </a:xfrm>
          <a:prstGeom prst="roundRect">
            <a:avLst>
              <a:gd name="adj" fmla="val 7106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55873" y="468288"/>
            <a:ext cx="819522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INSIGHTS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34752"/>
            <a:ext cx="5105177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Insights &amp; Recommendations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424309" y="1051322"/>
            <a:ext cx="4097908" cy="3653730"/>
          </a:xfrm>
          <a:prstGeom prst="roundRect">
            <a:avLst>
              <a:gd name="adj" fmla="val 409"/>
            </a:avLst>
          </a:prstGeom>
          <a:solidFill>
            <a:srgbClr val="0D0D09"/>
          </a:solidFill>
          <a:ln/>
        </p:spPr>
      </p:sp>
      <p:sp>
        <p:nvSpPr>
          <p:cNvPr id="6" name="Text 4"/>
          <p:cNvSpPr/>
          <p:nvPr/>
        </p:nvSpPr>
        <p:spPr>
          <a:xfrm>
            <a:off x="523949" y="1121346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EE27D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Findings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05" y="1360773"/>
            <a:ext cx="149498" cy="1494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7799" y="1355824"/>
            <a:ext cx="357477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Equity funds delivered stronger long-term returns across all evaluated horizons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05" y="1804801"/>
            <a:ext cx="149498" cy="1494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7799" y="1799853"/>
            <a:ext cx="357477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SIP inflows consistently increased year-over-year, signaling growing investor discipline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05" y="2248830"/>
            <a:ext cx="149498" cy="149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7799" y="2243882"/>
            <a:ext cx="357477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 Cap funds exhibited the most stable performance with lower drawdowns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05" y="2692859"/>
            <a:ext cx="149498" cy="1494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7799" y="2687910"/>
            <a:ext cx="357477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Higher Sharpe Ratio funds consistently outperformed on a risk-adjusted basis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305" y="3136888"/>
            <a:ext cx="149498" cy="1494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7799" y="3131939"/>
            <a:ext cx="357477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Benchmark comparison identified a clear set of alpha-generating schemes</a:t>
            </a: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4698355" y="1121346"/>
            <a:ext cx="215101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Recommendations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355" y="1355824"/>
            <a:ext cx="3954289" cy="598066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7212" y="1580108"/>
            <a:ext cx="149498" cy="14949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81377" y="146975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Diversify Holdings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5181377" y="1695450"/>
            <a:ext cx="335733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Spread risk across equity, debt, and hybrid categories</a:t>
            </a:r>
            <a:endParaRPr lang="en-US" sz="7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355" y="2023914"/>
            <a:ext cx="3954289" cy="59806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7212" y="2248198"/>
            <a:ext cx="149498" cy="14949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81377" y="2137842"/>
            <a:ext cx="136572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Prioritize Sharpe Ratio</a:t>
            </a:r>
            <a:endParaRPr lang="en-US" sz="950" dirty="0"/>
          </a:p>
        </p:txBody>
      </p:sp>
      <p:sp>
        <p:nvSpPr>
          <p:cNvPr id="25" name="Text 14"/>
          <p:cNvSpPr/>
          <p:nvPr/>
        </p:nvSpPr>
        <p:spPr>
          <a:xfrm>
            <a:off x="5181377" y="2363539"/>
            <a:ext cx="335733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funds with superior risk-adjusted metrics</a:t>
            </a:r>
            <a:endParaRPr lang="en-US" sz="7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355" y="2692003"/>
            <a:ext cx="3954289" cy="598066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7212" y="2916287"/>
            <a:ext cx="149498" cy="14949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81377" y="280593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Invest via SIP</a:t>
            </a:r>
            <a:endParaRPr lang="en-US" sz="950" dirty="0"/>
          </a:p>
        </p:txBody>
      </p:sp>
      <p:sp>
        <p:nvSpPr>
          <p:cNvPr id="29" name="Text 16"/>
          <p:cNvSpPr/>
          <p:nvPr/>
        </p:nvSpPr>
        <p:spPr>
          <a:xfrm>
            <a:off x="5181377" y="3031629"/>
            <a:ext cx="335733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Systematic plans reduce timing risk and build discipline</a:t>
            </a:r>
            <a:endParaRPr lang="en-US" sz="7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355" y="3360093"/>
            <a:ext cx="3954289" cy="598066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7212" y="3584377"/>
            <a:ext cx="149498" cy="14949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181377" y="3474021"/>
            <a:ext cx="12774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Monitor Benchmarks</a:t>
            </a:r>
            <a:endParaRPr lang="en-US" sz="950" dirty="0"/>
          </a:p>
        </p:txBody>
      </p:sp>
      <p:sp>
        <p:nvSpPr>
          <p:cNvPr id="33" name="Text 18"/>
          <p:cNvSpPr/>
          <p:nvPr/>
        </p:nvSpPr>
        <p:spPr>
          <a:xfrm>
            <a:off x="5181377" y="3699718"/>
            <a:ext cx="335733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alpha and beta relative to indices regularly</a:t>
            </a:r>
            <a:endParaRPr lang="en-US" sz="75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355" y="4028182"/>
            <a:ext cx="3954289" cy="598066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7212" y="4252466"/>
            <a:ext cx="149498" cy="149498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5181377" y="414211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Periodic Review</a:t>
            </a:r>
            <a:endParaRPr lang="en-US" sz="950" dirty="0"/>
          </a:p>
        </p:txBody>
      </p:sp>
      <p:sp>
        <p:nvSpPr>
          <p:cNvPr id="37" name="Text 20"/>
          <p:cNvSpPr/>
          <p:nvPr/>
        </p:nvSpPr>
        <p:spPr>
          <a:xfrm>
            <a:off x="5181377" y="4367808"/>
            <a:ext cx="335733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 portfolios quarterly for alignment</a:t>
            </a:r>
            <a:endParaRPr lang="en-US" sz="7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A3BB2FB-F46E-607F-A1AE-31B8138EC8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8420" y="4724364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250"/>
            <a:ext cx="628055" cy="212824"/>
          </a:xfrm>
          <a:prstGeom prst="roundRect">
            <a:avLst>
              <a:gd name="adj" fmla="val 6745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67854" y="439117"/>
            <a:ext cx="94178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6406"/>
            <a:ext cx="489823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Summary &amp; Thank You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181546"/>
            <a:ext cx="8151763" cy="440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complete analytics deliverable spanning data engineering, quantitative analysis, and interactive business intelligence.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765846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1923455"/>
            <a:ext cx="8151763" cy="1325761"/>
          </a:xfrm>
          <a:prstGeom prst="roundRect">
            <a:avLst>
              <a:gd name="adj" fmla="val 1353"/>
            </a:avLst>
          </a:prstGeom>
          <a:solidFill>
            <a:srgbClr val="3A3B3C"/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1923455"/>
            <a:ext cx="2717229" cy="662880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9" name="Text 7"/>
          <p:cNvSpPr/>
          <p:nvPr/>
        </p:nvSpPr>
        <p:spPr>
          <a:xfrm>
            <a:off x="615702" y="204303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ETL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5702" y="2290390"/>
            <a:ext cx="24780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Robust data 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3348" y="1923455"/>
            <a:ext cx="2717229" cy="662880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13348" y="1923455"/>
            <a:ext cx="14288" cy="662880"/>
          </a:xfrm>
          <a:prstGeom prst="roundRect">
            <a:avLst>
              <a:gd name="adj" fmla="val 125577"/>
            </a:avLst>
          </a:prstGeom>
          <a:solidFill>
            <a:srgbClr val="53545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2931" y="204303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SQLite 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2931" y="2290390"/>
            <a:ext cx="24780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Normalized schema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30578" y="1923455"/>
            <a:ext cx="2717229" cy="662880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30578" y="1923455"/>
            <a:ext cx="14288" cy="662880"/>
          </a:xfrm>
          <a:prstGeom prst="roundRect">
            <a:avLst>
              <a:gd name="adj" fmla="val 125577"/>
            </a:avLst>
          </a:prstGeom>
          <a:solidFill>
            <a:srgbClr val="535455"/>
          </a:solidFill>
          <a:ln/>
        </p:spPr>
      </p:sp>
      <p:sp>
        <p:nvSpPr>
          <p:cNvPr id="17" name="Text 15"/>
          <p:cNvSpPr/>
          <p:nvPr/>
        </p:nvSpPr>
        <p:spPr>
          <a:xfrm>
            <a:off x="6050161" y="204303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EDA &amp; Analytics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50161" y="2290390"/>
            <a:ext cx="24780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SQL, performance, advanced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2586335"/>
            <a:ext cx="4075807" cy="662880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119" y="2586335"/>
            <a:ext cx="4075807" cy="14288"/>
          </a:xfrm>
          <a:prstGeom prst="roundRect">
            <a:avLst>
              <a:gd name="adj" fmla="val 125577"/>
            </a:avLst>
          </a:prstGeom>
          <a:solidFill>
            <a:srgbClr val="535455"/>
          </a:solidFill>
          <a:ln/>
        </p:spPr>
      </p:sp>
      <p:sp>
        <p:nvSpPr>
          <p:cNvPr id="21" name="Text 19"/>
          <p:cNvSpPr/>
          <p:nvPr/>
        </p:nvSpPr>
        <p:spPr>
          <a:xfrm>
            <a:off x="615702" y="2705919"/>
            <a:ext cx="150353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5702" y="2953271"/>
            <a:ext cx="383664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BI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1926" y="2586335"/>
            <a:ext cx="4075881" cy="662880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1926" y="2586335"/>
            <a:ext cx="14288" cy="662880"/>
          </a:xfrm>
          <a:prstGeom prst="roundRect">
            <a:avLst>
              <a:gd name="adj" fmla="val 125577"/>
            </a:avLst>
          </a:prstGeom>
          <a:solidFill>
            <a:srgbClr val="5354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1926" y="2586335"/>
            <a:ext cx="4075881" cy="14288"/>
          </a:xfrm>
          <a:prstGeom prst="roundRect">
            <a:avLst>
              <a:gd name="adj" fmla="val 125577"/>
            </a:avLst>
          </a:prstGeom>
          <a:solidFill>
            <a:srgbClr val="535455"/>
          </a:solidFill>
          <a:ln/>
        </p:spPr>
      </p:sp>
      <p:sp>
        <p:nvSpPr>
          <p:cNvPr id="26" name="Text 24"/>
          <p:cNvSpPr/>
          <p:nvPr/>
        </p:nvSpPr>
        <p:spPr>
          <a:xfrm>
            <a:off x="4691509" y="270591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Report &amp; GitHub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91509" y="2953271"/>
            <a:ext cx="3836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Documentation &amp; repo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6119" y="3392537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6119" y="3663628"/>
            <a:ext cx="14288" cy="534293"/>
          </a:xfrm>
          <a:prstGeom prst="roundRect">
            <a:avLst>
              <a:gd name="adj" fmla="val 59998"/>
            </a:avLst>
          </a:prstGeom>
          <a:solidFill>
            <a:srgbClr val="EEE27D"/>
          </a:solidFill>
          <a:ln/>
        </p:spPr>
      </p:sp>
      <p:sp>
        <p:nvSpPr>
          <p:cNvPr id="30" name="Text 28"/>
          <p:cNvSpPr/>
          <p:nvPr/>
        </p:nvSpPr>
        <p:spPr>
          <a:xfrm>
            <a:off x="675531" y="3482280"/>
            <a:ext cx="4594845" cy="1586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 for your time and evaluation. This project reflects a commitment to rigorous analytics, clean engineering, and practical financial intelligence. </a:t>
            </a:r>
          </a:p>
          <a:p>
            <a:pPr>
              <a:lnSpc>
                <a:spcPct val="123000"/>
              </a:lnSpc>
            </a:pP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Questions?</a:t>
            </a:r>
          </a:p>
          <a:p>
            <a:pPr>
              <a:lnSpc>
                <a:spcPct val="123000"/>
              </a:lnSpc>
            </a:pP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Ashutosh Giri</a:t>
            </a:r>
          </a:p>
          <a:p>
            <a:pPr>
              <a:lnSpc>
                <a:spcPct val="123000"/>
              </a:lnSpc>
            </a:pP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Email: </a:t>
            </a: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3"/>
              </a:rPr>
              <a:t>ashutoshgiri1918@gmail.com</a:t>
            </a: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>
              <a:lnSpc>
                <a:spcPct val="123000"/>
              </a:lnSpc>
            </a:pP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algn="just"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LinkedIn: </a:t>
            </a: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4"/>
              </a:rPr>
              <a:t>www.linkedin.com/in/ashutosh-giri-datascience</a:t>
            </a:r>
            <a:endParaRPr lang="en-US" sz="9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algn="just">
              <a:lnSpc>
                <a:spcPct val="123000"/>
              </a:lnSpc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GitHub: </a:t>
            </a: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5"/>
              </a:rPr>
              <a:t>https://github.com/ashuuuu7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66990" y="365105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Ashutosh Giri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66990" y="3938811"/>
            <a:ext cx="3085579" cy="71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B.Tech AI &amp; Data Science</a:t>
            </a: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Guru Gobind Singh Indraprastha University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Capstone Project I — Bluestock Fintech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FFA0D6-10A9-2925-2D9D-AA76B4750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8420" y="4649465"/>
            <a:ext cx="1615580" cy="419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746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Arial</vt:lpstr>
      <vt:lpstr>Raleway Bold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Ashutosh Giri</dc:creator>
  <cp:lastModifiedBy>ashutoshgiri2101@outlook.com</cp:lastModifiedBy>
  <cp:revision>2</cp:revision>
  <dcterms:created xsi:type="dcterms:W3CDTF">2026-07-03T20:39:54Z</dcterms:created>
  <dcterms:modified xsi:type="dcterms:W3CDTF">2026-07-03T21:12:18Z</dcterms:modified>
</cp:coreProperties>
</file>